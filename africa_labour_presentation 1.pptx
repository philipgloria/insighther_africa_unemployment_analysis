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Unemployment Rate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West Africa</c:v>
                  </c:pt>
                  <c:pt idx="1">
                    <c:v>East Africa</c:v>
                  </c:pt>
                  <c:pt idx="2">
                    <c:v>Central Africa</c:v>
                  </c:pt>
                  <c:pt idx="3">
                    <c:v>North Africa</c:v>
                  </c:pt>
                  <c:pt idx="4">
                    <c:v>Southern Africa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5.21</c:v>
                </c:pt>
                <c:pt idx="1">
                  <c:v>9.19</c:v>
                </c:pt>
                <c:pt idx="2">
                  <c:v>12.56</c:v>
                </c:pt>
                <c:pt idx="3">
                  <c:v>16.05</c:v>
                </c:pt>
                <c:pt idx="4">
                  <c:v>17.89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Gender Unemployment Gap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 (11.54%)</c:v>
                </c:pt>
                <c:pt idx="1">
                  <c:v>Male (9.94%)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11.54</c:v>
                </c:pt>
                <c:pt idx="1">
                  <c:v>9.94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80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Top 10 Countries by Unemployment Rate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Swaziland</c:v>
                  </c:pt>
                  <c:pt idx="1">
                    <c:v>Djibouti</c:v>
                  </c:pt>
                  <c:pt idx="2">
                    <c:v>South Africa</c:v>
                  </c:pt>
                  <c:pt idx="3">
                    <c:v>Rep. of Congo</c:v>
                  </c:pt>
                  <c:pt idx="4">
                    <c:v>Gabon</c:v>
                  </c:pt>
                  <c:pt idx="5">
                    <c:v>Namibia</c:v>
                  </c:pt>
                  <c:pt idx="6">
                    <c:v>Botswana</c:v>
                  </c:pt>
                  <c:pt idx="7">
                    <c:v>Tunisia</c:v>
                  </c:pt>
                  <c:pt idx="8">
                    <c:v>Libya</c:v>
                  </c:pt>
                  <c:pt idx="9">
                    <c:v>Lesotho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32.84</c:v>
                </c:pt>
                <c:pt idx="1">
                  <c:v>30.74</c:v>
                </c:pt>
                <c:pt idx="2">
                  <c:v>30.71</c:v>
                </c:pt>
                <c:pt idx="3">
                  <c:v>28.33</c:v>
                </c:pt>
                <c:pt idx="4">
                  <c:v>28.31</c:v>
                </c:pt>
                <c:pt idx="5">
                  <c:v>24.65</c:v>
                </c:pt>
                <c:pt idx="6">
                  <c:v>23.15</c:v>
                </c:pt>
                <c:pt idx="7">
                  <c:v>21.94</c:v>
                </c:pt>
                <c:pt idx="8">
                  <c:v>21.51</c:v>
                </c:pt>
                <c:pt idx="9">
                  <c:v>21.42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Rate by Age Group - Youth Peak at 20%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%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15-24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12.12</c:v>
                </c:pt>
                <c:pt idx="2">
                  <c:v>8.13</c:v>
                </c:pt>
                <c:pt idx="3">
                  <c:v>6.04</c:v>
                </c:pt>
                <c:pt idx="4">
                  <c:v>7.23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Rate by Education - The Tertiary Paradox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Formal</c:v>
                  </c:pt>
                  <c:pt idx="1">
                    <c:v>Primary</c:v>
                  </c:pt>
                  <c:pt idx="2">
                    <c:v>Secondary</c:v>
                  </c:pt>
                  <c:pt idx="3">
                    <c:v>Tertiary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6.92</c:v>
                </c:pt>
                <c:pt idx="1">
                  <c:v>8.84</c:v>
                </c:pt>
                <c:pt idx="2">
                  <c:v>11</c:v>
                </c:pt>
                <c:pt idx="3">
                  <c:v>15.34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Internet Access x Education: Digital Divide Impact on Unemployment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Internet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Formal</c:v>
                  </c:pt>
                  <c:pt idx="1">
                    <c:v>Primary</c:v>
                  </c:pt>
                  <c:pt idx="2">
                    <c:v>Secondary</c:v>
                  </c:pt>
                  <c:pt idx="3">
                    <c:v>Tertiary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4.03</c:v>
                </c:pt>
                <c:pt idx="1">
                  <c:v>7.56</c:v>
                </c:pt>
                <c:pt idx="2">
                  <c:v>9.65</c:v>
                </c:pt>
                <c:pt idx="3">
                  <c:v>15.32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Internet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 Formal</c:v>
                  </c:pt>
                  <c:pt idx="1">
                    <c:v>Primary</c:v>
                  </c:pt>
                  <c:pt idx="2">
                    <c:v>Secondary</c:v>
                  </c:pt>
                  <c:pt idx="3">
                    <c:v>Tertiary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8.08</c:v>
                </c:pt>
                <c:pt idx="1">
                  <c:v>9.99</c:v>
                </c:pt>
                <c:pt idx="2">
                  <c:v>13.07</c:v>
                </c:pt>
                <c:pt idx="3">
                  <c:v>15.38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0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Skills-Related Unemployment Reasons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Workers Affected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Skills mismatch</c:v>
                  </c:pt>
                  <c:pt idx="1">
                    <c:v>Lack of skills</c:v>
                  </c:pt>
                  <c:pt idx="2">
                    <c:v>Lack of entrepreneur. training</c:v>
                  </c:pt>
                  <c:pt idx="3">
                    <c:v>Skill obsolescence</c:v>
                  </c:pt>
                  <c:pt idx="4">
                    <c:v>Lack of digital skills</c:v>
                  </c:pt>
                  <c:pt idx="5">
                    <c:v>Lack of vocational skills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5</c:v>
                </c:pt>
                <c:pt idx="3">
                  <c:v>6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Skills Supply vs Employer Demand Radar (Illustrative)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Workforce Supply</c:v>
                </c:pt>
              </c:strCache>
            </c:strRef>
          </c:tx>
          <c:spPr>
            <a:solidFill>
              <a:srgbClr val="6366F1"/>
            </a:solidFill>
            <a:ln w="254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Digital</c:v>
                  </c:pt>
                  <c:pt idx="1">
                    <c:v>Vocational</c:v>
                  </c:pt>
                  <c:pt idx="2">
                    <c:v>Entrepreneurship</c:v>
                  </c:pt>
                  <c:pt idx="3">
                    <c:v>Soft Skills</c:v>
                  </c:pt>
                  <c:pt idx="4">
                    <c:v>Analytical</c:v>
                  </c:pt>
                  <c:pt idx="5">
                    <c:v>Agricultural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35</c:v>
                </c:pt>
                <c:pt idx="2">
                  <c:v>40</c:v>
                </c:pt>
                <c:pt idx="3">
                  <c:v>55</c:v>
                </c:pt>
                <c:pt idx="4">
                  <c:v>45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Employer Demand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Digital</c:v>
                  </c:pt>
                  <c:pt idx="1">
                    <c:v>Vocational</c:v>
                  </c:pt>
                  <c:pt idx="2">
                    <c:v>Entrepreneurship</c:v>
                  </c:pt>
                  <c:pt idx="3">
                    <c:v>Soft Skills</c:v>
                  </c:pt>
                  <c:pt idx="4">
                    <c:v>Analytical</c:v>
                  </c:pt>
                  <c:pt idx="5">
                    <c:v>Agricultural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75</c:v>
                </c:pt>
                <c:pt idx="2">
                  <c:v>72</c:v>
                </c:pt>
                <c:pt idx="3">
                  <c:v>68</c:v>
                </c:pt>
                <c:pt idx="4">
                  <c:v>70</c:v>
                </c:pt>
                <c:pt idx="5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7A80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 LABOUR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Trends, Skills Gap Analysis &amp; Policy Recommendations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3657600"/>
            <a:ext cx="1143000" cy="100584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3484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AI-Assisted Labour Market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10.75%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Unemployment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500 respondents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6868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(15-24)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age group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68680"/>
            <a:ext cx="201168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86868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86868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Country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Swaziland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228600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486400" y="2286000"/>
          <a:ext cx="3429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BREAKDOWN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82296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914400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17.9%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2252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regional rate. Swaziland, South Africa &amp; Gabon lead due to structural economic challenges.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192024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920240"/>
            <a:ext cx="54864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Africa 16.1%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97880" y="22311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 (21.9%) &amp; Libya (21.5%) reflect political instability and resource-dependency effects.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292608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9260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971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Africa 12.6%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97880" y="32369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of Congo (28.3%) and Gabon (28.3%) are outliers driven by oil sector concentration.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393192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93192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977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 5.2%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4242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regional rate. Diversified informal economies provide resilience. Covers 157 respondents.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DEMOGRAPHIC PATTERNS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82296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822960"/>
          <a:ext cx="4160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28600" y="3063240"/>
          <a:ext cx="8686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GAP ANALYSIS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82296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49240" y="804672"/>
            <a:ext cx="356616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4960" y="841248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Demand vs Supply Gap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70432"/>
          <a:ext cx="347472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Digital/Tech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Skills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Edu.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228600" y="3611880"/>
          <a:ext cx="8686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AI-ASSISTED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2834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YOUTH CRISIS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aged 15-24 face 20% unemployment - 2.5x higher than the 45-54 cohort (6.04%). First-time job seekers face structural entry barriers across all regions.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04672"/>
            <a:ext cx="28346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 PARADOX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2618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graduates show the HIGHEST rate (15.3%) vs. no-education workers (6.9%). Curriculum misalignment between universities and labour market demand is critical.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8046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804672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DIVIDE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2618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internet access: 11.1% vs 10.4% rate. At lower education levels, the gap widens to 4pp - digital connectivity is an economic multiplier.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62072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VOCATIONAL DEFICIT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192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vocational skills drives 24.9% unemployment - the highest skills-related rate identified. Trade and technical skills are acutely undersupplied in the labour market.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620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62072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SOUTHERN EXPOSURE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192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 (17.9%) is 3x West Africa (5.2%). Swaziland (32.8%), Djibouti (30.7%), South Africa (30.7%) reflect structural economic inequality.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62072"/>
            <a:ext cx="2834640" cy="1828800"/>
          </a:xfrm>
          <a:prstGeom prst="rect">
            <a:avLst/>
          </a:prstGeom>
          <a:solidFill>
            <a:srgbClr val="1E2A3A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62072"/>
            <a:ext cx="283464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GENDER GAP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31927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11.5% vs men's 9.9% - a 1.6pp gap. Family responsibilities were directly cited as barriers, pointing to social infrastructure needs.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54864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877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Employment Fast-Track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11887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apprenticeships, subsidised first-employment schemes &amp; mentorship. Focus North &amp; Southern Africa. Target: 3-5pp reduction in 3 years.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54864" cy="1261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77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6088" y="877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&amp; Digital Skills Centres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76088" y="11887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TVET centres with digital literacy integration. Internet access cuts unemployment by ~7%. Prioritise Central and Southern Africa.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21992"/>
            <a:ext cx="54864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Curriculum-Market Alignment Reform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60604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advisory boards for universities. Industry-linked degrees. Post-graduate bridging courses in tech, entrepreneurship and market-relevant fields.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2199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21992"/>
            <a:ext cx="54864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76088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Connectivity Infrastructure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088" y="260604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broadband rollout. Subsidised device access. Digital economy hubs enabling remote work for workers who cannot relocate to urban areas.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3931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39312"/>
            <a:ext cx="54864" cy="1261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Gender-Inclusive Employment Policy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402336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affordable childcare near industrial zones. Flexible work regulations. Support women-led SMEs. Target East and Southern Africa specifically.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3931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39312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76088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Industrial Diversification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76088" y="402336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Resource-dependent nations invest in manufacturing and agri-processing. Cross-border labour mobility frameworks to reduce unemployment concentration.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&amp; DATA NOTES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68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86868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respondents across 50 African countries (10 per country). Variables: country, region, age group, sex, education level, area, marital status, years of experience (0-40), internet access, unemployment reason, unemployment rate.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10512"/>
            <a:ext cx="54864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74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using pandas. Group comparisons by mean aggregation. Skills gap analysis via thematic categorisation of 87 unique unemployment reasons. Cross-tabulations for interaction effects.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1635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816352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80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88036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patterns: Youth unemployment 2.5x average, Education paradox (tertiary = highest rate), Regional concentration in Southern/North Africa, 11.4% skills-related unemployment, Digital access has protective effect.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822192"/>
            <a:ext cx="8686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822192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886200"/>
            <a:ext cx="6995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sample (10/country) does not reflect population proportions. Unemployment rate definition varies by individual/local context. 87 reasons show encoding inconsistencies. Results are directional indicators only.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Bridging the Gap,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the Future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labour market challenges are addressable.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policy, skills investment, and digital inclusion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reshape employment outcomes across the continent.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Skills-related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vs. overall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multiple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4480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vs West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C610CA20A3894B867C07CD2D69FCD3" ma:contentTypeVersion="3" ma:contentTypeDescription="Create a new document." ma:contentTypeScope="" ma:versionID="ae520e29d60f61d58924b76958a210b5">
  <xsd:schema xmlns:xsd="http://www.w3.org/2001/XMLSchema" xmlns:xs="http://www.w3.org/2001/XMLSchema" xmlns:p="http://schemas.microsoft.com/office/2006/metadata/properties" xmlns:ns2="db64a1e0-2cb7-45e6-951c-d2d4cc8a6037" targetNamespace="http://schemas.microsoft.com/office/2006/metadata/properties" ma:root="true" ma:fieldsID="0beeabc14e5d9d6eddaa0337754a3173" ns2:_="">
    <xsd:import namespace="db64a1e0-2cb7-45e6-951c-d2d4cc8a60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4a1e0-2cb7-45e6-951c-d2d4cc8a60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3468CE-F3EC-4D13-8FFB-1D3E66F35198}"/>
</file>

<file path=customXml/itemProps2.xml><?xml version="1.0" encoding="utf-8"?>
<ds:datastoreItem xmlns:ds="http://schemas.openxmlformats.org/officeDocument/2006/customXml" ds:itemID="{F6DC6272-2797-43BA-B425-2A169FD11E5C}"/>
</file>

<file path=customXml/itemProps3.xml><?xml version="1.0" encoding="utf-8"?>
<ds:datastoreItem xmlns:ds="http://schemas.openxmlformats.org/officeDocument/2006/customXml" ds:itemID="{DA92920E-E307-41E3-A245-33D222D80E8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Labour Market Intelligence</dc:title>
  <dc:subject>PptxGenJS Presentation</dc:subject>
  <dc:creator>PptxGenJS</dc:creator>
  <cp:lastModifiedBy>PptxGenJS</cp:lastModifiedBy>
  <cp:revision>1</cp:revision>
  <dcterms:created xsi:type="dcterms:W3CDTF">2026-03-21T13:31:04Z</dcterms:created>
  <dcterms:modified xsi:type="dcterms:W3CDTF">2026-03-21T13:31:04Z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0x010100D4C610CA20A3894B867C07CD2D69FCD3</vt:lpwstr>
  </property>
</Properties>
</file>